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Roboto" panose="02000000000000000000" pitchFamily="2" charset="0"/>
      <p:regular r:id="rId7"/>
    </p:embeddedFont>
    <p:embeddedFont>
      <p:font typeface="Roboto Bol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46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24.png"/><Relationship Id="rId21" Type="http://schemas.openxmlformats.org/officeDocument/2006/relationships/image" Target="../media/image42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23" Type="http://schemas.openxmlformats.org/officeDocument/2006/relationships/image" Target="../media/image44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4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991042" y="3314700"/>
            <a:ext cx="14154150" cy="10287000"/>
          </a:xfrm>
          <a:custGeom>
            <a:avLst/>
            <a:gdLst/>
            <a:ahLst/>
            <a:cxnLst/>
            <a:rect l="l" t="t" r="r" b="b"/>
            <a:pathLst>
              <a:path w="14154150" h="10287000">
                <a:moveTo>
                  <a:pt x="0" y="0"/>
                </a:moveTo>
                <a:lnTo>
                  <a:pt x="14154150" y="0"/>
                </a:lnTo>
                <a:lnTo>
                  <a:pt x="141541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925550" y="0"/>
            <a:ext cx="4362450" cy="10287000"/>
          </a:xfrm>
          <a:custGeom>
            <a:avLst/>
            <a:gdLst/>
            <a:ahLst/>
            <a:cxnLst/>
            <a:rect l="l" t="t" r="r" b="b"/>
            <a:pathLst>
              <a:path w="4362450" h="10287000">
                <a:moveTo>
                  <a:pt x="0" y="0"/>
                </a:moveTo>
                <a:lnTo>
                  <a:pt x="4362450" y="0"/>
                </a:lnTo>
                <a:lnTo>
                  <a:pt x="4362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486775" y="3000375"/>
            <a:ext cx="9801225" cy="7286625"/>
          </a:xfrm>
          <a:custGeom>
            <a:avLst/>
            <a:gdLst/>
            <a:ahLst/>
            <a:cxnLst/>
            <a:rect l="l" t="t" r="r" b="b"/>
            <a:pathLst>
              <a:path w="9801225" h="7286625">
                <a:moveTo>
                  <a:pt x="0" y="0"/>
                </a:moveTo>
                <a:lnTo>
                  <a:pt x="9801225" y="0"/>
                </a:lnTo>
                <a:lnTo>
                  <a:pt x="9801225" y="7286625"/>
                </a:lnTo>
                <a:lnTo>
                  <a:pt x="0" y="7286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69264" y="987990"/>
            <a:ext cx="7498080" cy="2511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95"/>
              </a:lnSpc>
            </a:pPr>
            <a:r>
              <a:rPr lang="en-US" sz="10100" b="1" spc="-202">
                <a:solidFill>
                  <a:srgbClr val="132639"/>
                </a:solidFill>
                <a:latin typeface="Roboto Bold"/>
                <a:ea typeface="Roboto Bold"/>
                <a:cs typeface="Roboto Bold"/>
                <a:sym typeface="Roboto Bold"/>
              </a:rPr>
              <a:t>Process Tree Viewer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9264" y="3437368"/>
            <a:ext cx="7260336" cy="1163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85"/>
              </a:lnSpc>
            </a:pPr>
            <a:r>
              <a:rPr lang="en-US" sz="9036" b="1" spc="-180">
                <a:solidFill>
                  <a:srgbClr val="F16700"/>
                </a:solidFill>
                <a:latin typeface="Roboto Bold"/>
                <a:ea typeface="Roboto Bold"/>
                <a:cs typeface="Roboto Bold"/>
                <a:sym typeface="Roboto Bold"/>
              </a:rPr>
              <a:t>(pstree Clone)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05840" y="4818873"/>
            <a:ext cx="5852160" cy="997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6"/>
              </a:lnSpc>
            </a:pPr>
            <a:r>
              <a:rPr lang="en-US" sz="3542">
                <a:solidFill>
                  <a:srgbClr val="132639"/>
                </a:solidFill>
                <a:latin typeface="Roboto"/>
                <a:ea typeface="Roboto"/>
                <a:cs typeface="Roboto"/>
                <a:sym typeface="Roboto"/>
              </a:rPr>
              <a:t>Linux System Programming / Operating Systems Project</a:t>
            </a:r>
          </a:p>
        </p:txBody>
      </p:sp>
      <p:sp>
        <p:nvSpPr>
          <p:cNvPr id="9" name="Freeform 9"/>
          <p:cNvSpPr/>
          <p:nvPr/>
        </p:nvSpPr>
        <p:spPr>
          <a:xfrm>
            <a:off x="866775" y="6210300"/>
            <a:ext cx="2619375" cy="219075"/>
          </a:xfrm>
          <a:custGeom>
            <a:avLst/>
            <a:gdLst/>
            <a:ahLst/>
            <a:cxnLst/>
            <a:rect l="l" t="t" r="r" b="b"/>
            <a:pathLst>
              <a:path w="2619375" h="219075">
                <a:moveTo>
                  <a:pt x="0" y="0"/>
                </a:moveTo>
                <a:lnTo>
                  <a:pt x="2619375" y="0"/>
                </a:lnTo>
                <a:lnTo>
                  <a:pt x="2619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05840" y="6960560"/>
            <a:ext cx="2578608" cy="417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5"/>
              </a:lnSpc>
            </a:pPr>
            <a:r>
              <a:rPr lang="en-US" sz="2868" b="1">
                <a:solidFill>
                  <a:srgbClr val="F16700"/>
                </a:solidFill>
                <a:latin typeface="Roboto Bold"/>
                <a:ea typeface="Roboto Bold"/>
                <a:cs typeface="Roboto Bold"/>
                <a:sym typeface="Roboto Bold"/>
              </a:rPr>
              <a:t>Team Members</a:t>
            </a:r>
          </a:p>
        </p:txBody>
      </p:sp>
      <p:sp>
        <p:nvSpPr>
          <p:cNvPr id="11" name="Freeform 11"/>
          <p:cNvSpPr/>
          <p:nvPr/>
        </p:nvSpPr>
        <p:spPr>
          <a:xfrm>
            <a:off x="4352925" y="6210300"/>
            <a:ext cx="219075" cy="3009900"/>
          </a:xfrm>
          <a:custGeom>
            <a:avLst/>
            <a:gdLst/>
            <a:ahLst/>
            <a:cxnLst/>
            <a:rect l="l" t="t" r="r" b="b"/>
            <a:pathLst>
              <a:path w="219075" h="3009900">
                <a:moveTo>
                  <a:pt x="0" y="0"/>
                </a:moveTo>
                <a:lnTo>
                  <a:pt x="219075" y="0"/>
                </a:lnTo>
                <a:lnTo>
                  <a:pt x="219075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285231" y="6292130"/>
            <a:ext cx="2115693" cy="417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94"/>
              </a:lnSpc>
            </a:pPr>
            <a:r>
              <a:rPr lang="en-US" sz="2904" b="1" dirty="0">
                <a:solidFill>
                  <a:srgbClr val="F16700"/>
                </a:solidFill>
                <a:latin typeface="Roboto Bold"/>
                <a:ea typeface="Roboto Bold"/>
                <a:cs typeface="Roboto Bold"/>
                <a:sym typeface="Roboto Bold"/>
              </a:rPr>
              <a:t>Technology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57800" y="6896100"/>
            <a:ext cx="4242816" cy="770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8"/>
              </a:lnSpc>
            </a:pPr>
            <a:r>
              <a:rPr lang="en-US" sz="2337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 Programming | Linux/Ubuntu |proc filesystem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85232" y="7830503"/>
            <a:ext cx="3020568" cy="421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55"/>
              </a:lnSpc>
            </a:pPr>
            <a:r>
              <a:rPr lang="en-US" sz="2868" b="1" dirty="0">
                <a:solidFill>
                  <a:srgbClr val="F16700"/>
                </a:solidFill>
                <a:latin typeface="Roboto Bold"/>
                <a:ea typeface="Roboto Bold"/>
                <a:cs typeface="Roboto Bold"/>
                <a:sym typeface="Roboto Bold"/>
              </a:rPr>
              <a:t>Project Focus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285232" y="8315375"/>
            <a:ext cx="4462272" cy="117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40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Understanding and visualizing parent-child relationships among running Linux processes.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3880" y="7471593"/>
            <a:ext cx="3703320" cy="18485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71"/>
              </a:lnSpc>
            </a:pPr>
            <a:r>
              <a:rPr lang="en-US" sz="215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Name Sahith– Roll No.185</a:t>
            </a:r>
          </a:p>
          <a:p>
            <a:pPr algn="l">
              <a:lnSpc>
                <a:spcPts val="3671"/>
              </a:lnSpc>
            </a:pPr>
            <a:r>
              <a:rPr lang="en-US" sz="215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Name Revanth – Roll No.46</a:t>
            </a:r>
          </a:p>
          <a:p>
            <a:pPr algn="l">
              <a:lnSpc>
                <a:spcPts val="3671"/>
              </a:lnSpc>
            </a:pPr>
            <a:r>
              <a:rPr lang="en-US" sz="215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Name </a:t>
            </a:r>
            <a:r>
              <a:rPr lang="en-US" sz="2159" dirty="0" err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Sakshith</a:t>
            </a:r>
            <a:r>
              <a:rPr lang="en-US" sz="215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– Roll No.47</a:t>
            </a:r>
          </a:p>
          <a:p>
            <a:pPr algn="l">
              <a:lnSpc>
                <a:spcPts val="3671"/>
              </a:lnSpc>
            </a:pPr>
            <a:r>
              <a:rPr lang="en-US" sz="2159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Name Susanth – Roll No.89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77824" y="923648"/>
            <a:ext cx="9656064" cy="2449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26"/>
              </a:lnSpc>
            </a:pPr>
            <a:r>
              <a:rPr lang="en-US" sz="9426" b="1" spc="-377">
                <a:solidFill>
                  <a:srgbClr val="1E2F40"/>
                </a:solidFill>
                <a:latin typeface="Roboto Bold"/>
                <a:ea typeface="Roboto Bold"/>
                <a:cs typeface="Roboto Bold"/>
                <a:sym typeface="Roboto Bold"/>
              </a:rPr>
              <a:t>Introduction &amp; Problem Statement</a:t>
            </a:r>
          </a:p>
        </p:txBody>
      </p:sp>
      <p:sp>
        <p:nvSpPr>
          <p:cNvPr id="4" name="Freeform 4"/>
          <p:cNvSpPr/>
          <p:nvPr/>
        </p:nvSpPr>
        <p:spPr>
          <a:xfrm>
            <a:off x="866775" y="3638550"/>
            <a:ext cx="2619375" cy="219075"/>
          </a:xfrm>
          <a:custGeom>
            <a:avLst/>
            <a:gdLst/>
            <a:ahLst/>
            <a:cxnLst/>
            <a:rect l="l" t="t" r="r" b="b"/>
            <a:pathLst>
              <a:path w="2619375" h="219075">
                <a:moveTo>
                  <a:pt x="0" y="0"/>
                </a:moveTo>
                <a:lnTo>
                  <a:pt x="2619375" y="0"/>
                </a:lnTo>
                <a:lnTo>
                  <a:pt x="2619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96112" y="4308316"/>
            <a:ext cx="8321040" cy="1646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045">
                <a:solidFill>
                  <a:srgbClr val="1E2F40"/>
                </a:solidFill>
                <a:latin typeface="Roboto"/>
                <a:ea typeface="Roboto"/>
                <a:cs typeface="Roboto"/>
                <a:sym typeface="Roboto"/>
              </a:rPr>
              <a:t>We build a system that reads Linux process data from </a:t>
            </a:r>
            <a:r>
              <a:rPr lang="en-US" sz="3045" b="1">
                <a:solidFill>
                  <a:srgbClr val="F27405"/>
                </a:solidFill>
                <a:latin typeface="Roboto Bold"/>
                <a:ea typeface="Roboto Bold"/>
                <a:cs typeface="Roboto Bold"/>
                <a:sym typeface="Roboto Bold"/>
              </a:rPr>
              <a:t>/proc</a:t>
            </a:r>
            <a:r>
              <a:rPr lang="en-US" sz="3045">
                <a:solidFill>
                  <a:srgbClr val="1E2F40"/>
                </a:solidFill>
                <a:latin typeface="Roboto"/>
                <a:ea typeface="Roboto"/>
                <a:cs typeface="Roboto"/>
                <a:sym typeface="Roboto"/>
              </a:rPr>
              <a:t> and presents it as a clear, hierarchical process tree.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6112" y="6622176"/>
            <a:ext cx="2304288" cy="51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3152" b="1">
                <a:solidFill>
                  <a:srgbClr val="F27405"/>
                </a:solidFill>
                <a:latin typeface="Roboto Bold"/>
                <a:ea typeface="Roboto Bold"/>
                <a:cs typeface="Roboto Bold"/>
                <a:sym typeface="Roboto Bold"/>
              </a:rPr>
              <a:t>The problem</a:t>
            </a:r>
          </a:p>
        </p:txBody>
      </p:sp>
      <p:sp>
        <p:nvSpPr>
          <p:cNvPr id="7" name="Freeform 7"/>
          <p:cNvSpPr/>
          <p:nvPr/>
        </p:nvSpPr>
        <p:spPr>
          <a:xfrm>
            <a:off x="11753850" y="638175"/>
            <a:ext cx="5667375" cy="1933575"/>
          </a:xfrm>
          <a:custGeom>
            <a:avLst/>
            <a:gdLst/>
            <a:ahLst/>
            <a:cxnLst/>
            <a:rect l="l" t="t" r="r" b="b"/>
            <a:pathLst>
              <a:path w="5667375" h="1933575">
                <a:moveTo>
                  <a:pt x="0" y="0"/>
                </a:moveTo>
                <a:lnTo>
                  <a:pt x="5667375" y="0"/>
                </a:lnTo>
                <a:lnTo>
                  <a:pt x="56673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874752" y="1192372"/>
            <a:ext cx="3547872" cy="971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7"/>
              </a:lnSpc>
            </a:pPr>
            <a:r>
              <a:rPr lang="en-US" sz="2975" b="1">
                <a:solidFill>
                  <a:srgbClr val="1E2F40"/>
                </a:solidFill>
                <a:latin typeface="Roboto Bold"/>
                <a:ea typeface="Roboto Bold"/>
                <a:cs typeface="Roboto Bold"/>
                <a:sym typeface="Roboto Bold"/>
              </a:rPr>
              <a:t>Linux processes</a:t>
            </a:r>
          </a:p>
          <a:p>
            <a:pPr algn="ctr">
              <a:lnSpc>
                <a:spcPts val="3867"/>
              </a:lnSpc>
            </a:pPr>
            <a:r>
              <a:rPr lang="en-US" sz="2975" b="1">
                <a:solidFill>
                  <a:srgbClr val="1E2F40"/>
                </a:solidFill>
                <a:latin typeface="Roboto Bold"/>
                <a:ea typeface="Roboto Bold"/>
                <a:cs typeface="Roboto Bold"/>
                <a:sym typeface="Roboto Bold"/>
              </a:rPr>
              <a:t>run with unique PIDs</a:t>
            </a:r>
          </a:p>
        </p:txBody>
      </p:sp>
      <p:sp>
        <p:nvSpPr>
          <p:cNvPr id="9" name="Freeform 9"/>
          <p:cNvSpPr/>
          <p:nvPr/>
        </p:nvSpPr>
        <p:spPr>
          <a:xfrm>
            <a:off x="14363700" y="2352675"/>
            <a:ext cx="447675" cy="647700"/>
          </a:xfrm>
          <a:custGeom>
            <a:avLst/>
            <a:gdLst/>
            <a:ahLst/>
            <a:cxnLst/>
            <a:rect l="l" t="t" r="r" b="b"/>
            <a:pathLst>
              <a:path w="447675" h="647700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753850" y="3000375"/>
            <a:ext cx="5667375" cy="1933575"/>
          </a:xfrm>
          <a:custGeom>
            <a:avLst/>
            <a:gdLst/>
            <a:ahLst/>
            <a:cxnLst/>
            <a:rect l="l" t="t" r="r" b="b"/>
            <a:pathLst>
              <a:path w="5667375" h="1933575">
                <a:moveTo>
                  <a:pt x="0" y="0"/>
                </a:moveTo>
                <a:lnTo>
                  <a:pt x="5667375" y="0"/>
                </a:lnTo>
                <a:lnTo>
                  <a:pt x="56673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3130784" y="3383503"/>
            <a:ext cx="2999232" cy="971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7"/>
              </a:lnSpc>
            </a:pPr>
            <a:r>
              <a:rPr lang="en-US" sz="2975" b="1">
                <a:solidFill>
                  <a:srgbClr val="1E2F40"/>
                </a:solidFill>
                <a:latin typeface="Roboto Bold"/>
                <a:ea typeface="Roboto Bold"/>
                <a:cs typeface="Roboto Bold"/>
                <a:sym typeface="Roboto Bold"/>
              </a:rPr>
              <a:t>Parent-child links</a:t>
            </a:r>
          </a:p>
          <a:p>
            <a:pPr algn="ctr">
              <a:lnSpc>
                <a:spcPts val="3867"/>
              </a:lnSpc>
            </a:pPr>
            <a:r>
              <a:rPr lang="en-US" sz="2975" b="1">
                <a:solidFill>
                  <a:srgbClr val="1E2F40"/>
                </a:solidFill>
                <a:latin typeface="Roboto Bold"/>
                <a:ea typeface="Roboto Bold"/>
                <a:cs typeface="Roboto Bold"/>
                <a:sym typeface="Roboto Bold"/>
              </a:rPr>
              <a:t>via PPID</a:t>
            </a:r>
          </a:p>
        </p:txBody>
      </p:sp>
      <p:sp>
        <p:nvSpPr>
          <p:cNvPr id="12" name="Freeform 12"/>
          <p:cNvSpPr/>
          <p:nvPr/>
        </p:nvSpPr>
        <p:spPr>
          <a:xfrm>
            <a:off x="14363700" y="4714875"/>
            <a:ext cx="447675" cy="647700"/>
          </a:xfrm>
          <a:custGeom>
            <a:avLst/>
            <a:gdLst/>
            <a:ahLst/>
            <a:cxnLst/>
            <a:rect l="l" t="t" r="r" b="b"/>
            <a:pathLst>
              <a:path w="447675" h="647700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753850" y="5143500"/>
            <a:ext cx="5667375" cy="1933575"/>
          </a:xfrm>
          <a:custGeom>
            <a:avLst/>
            <a:gdLst/>
            <a:ahLst/>
            <a:cxnLst/>
            <a:rect l="l" t="t" r="r" b="b"/>
            <a:pathLst>
              <a:path w="5667375" h="1933575">
                <a:moveTo>
                  <a:pt x="0" y="0"/>
                </a:moveTo>
                <a:lnTo>
                  <a:pt x="5667375" y="0"/>
                </a:lnTo>
                <a:lnTo>
                  <a:pt x="56673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819888" y="5594221"/>
            <a:ext cx="3621024" cy="953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1"/>
              </a:lnSpc>
            </a:pPr>
            <a:r>
              <a:rPr lang="en-US" sz="293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Process details come</a:t>
            </a:r>
          </a:p>
          <a:p>
            <a:pPr algn="ctr">
              <a:lnSpc>
                <a:spcPts val="3821"/>
              </a:lnSpc>
            </a:pPr>
            <a:r>
              <a:rPr lang="en-US" sz="293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from </a:t>
            </a:r>
            <a:r>
              <a:rPr lang="en-US" sz="2939" b="1">
                <a:solidFill>
                  <a:srgbClr val="F27405"/>
                </a:solidFill>
                <a:latin typeface="Roboto Bold"/>
                <a:ea typeface="Roboto Bold"/>
                <a:cs typeface="Roboto Bold"/>
                <a:sym typeface="Roboto Bold"/>
              </a:rPr>
              <a:t>/proc</a:t>
            </a:r>
          </a:p>
        </p:txBody>
      </p:sp>
      <p:sp>
        <p:nvSpPr>
          <p:cNvPr id="15" name="Freeform 15"/>
          <p:cNvSpPr/>
          <p:nvPr/>
        </p:nvSpPr>
        <p:spPr>
          <a:xfrm>
            <a:off x="14363700" y="6858000"/>
            <a:ext cx="447675" cy="857250"/>
          </a:xfrm>
          <a:custGeom>
            <a:avLst/>
            <a:gdLst/>
            <a:ahLst/>
            <a:cxnLst/>
            <a:rect l="l" t="t" r="r" b="b"/>
            <a:pathLst>
              <a:path w="447675" h="857250">
                <a:moveTo>
                  <a:pt x="0" y="0"/>
                </a:moveTo>
                <a:lnTo>
                  <a:pt x="447675" y="0"/>
                </a:lnTo>
                <a:lnTo>
                  <a:pt x="4476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753850" y="7496175"/>
            <a:ext cx="5667375" cy="1933575"/>
          </a:xfrm>
          <a:custGeom>
            <a:avLst/>
            <a:gdLst/>
            <a:ahLst/>
            <a:cxnLst/>
            <a:rect l="l" t="t" r="r" b="b"/>
            <a:pathLst>
              <a:path w="5667375" h="1933575">
                <a:moveTo>
                  <a:pt x="0" y="0"/>
                </a:moveTo>
                <a:lnTo>
                  <a:pt x="5667375" y="0"/>
                </a:lnTo>
                <a:lnTo>
                  <a:pt x="56673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3057632" y="7940644"/>
            <a:ext cx="3145536" cy="971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7"/>
              </a:lnSpc>
            </a:pPr>
            <a:r>
              <a:rPr lang="en-US" sz="2975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We build a clear,</a:t>
            </a:r>
          </a:p>
          <a:p>
            <a:pPr algn="ctr">
              <a:lnSpc>
                <a:spcPts val="3867"/>
              </a:lnSpc>
            </a:pPr>
            <a:r>
              <a:rPr lang="en-US" sz="2975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hierarchical view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96112" y="7178306"/>
            <a:ext cx="7168896" cy="1684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20"/>
              </a:lnSpc>
            </a:pPr>
            <a:r>
              <a:rPr lang="en-US" sz="2443">
                <a:solidFill>
                  <a:srgbClr val="1E2F40"/>
                </a:solidFill>
                <a:latin typeface="Roboto"/>
                <a:ea typeface="Roboto"/>
                <a:cs typeface="Roboto"/>
                <a:sym typeface="Roboto"/>
              </a:rPr>
              <a:t>Traditional lists show processes in isolation</a:t>
            </a:r>
          </a:p>
          <a:p>
            <a:pPr algn="l">
              <a:lnSpc>
                <a:spcPts val="4520"/>
              </a:lnSpc>
            </a:pPr>
            <a:r>
              <a:rPr lang="en-US" sz="2443">
                <a:solidFill>
                  <a:srgbClr val="1E2F40"/>
                </a:solidFill>
                <a:latin typeface="Roboto"/>
                <a:ea typeface="Roboto"/>
                <a:cs typeface="Roboto"/>
                <a:sym typeface="Roboto"/>
              </a:rPr>
              <a:t>Parent-child relationships are not visually clear</a:t>
            </a:r>
          </a:p>
          <a:p>
            <a:pPr algn="l">
              <a:lnSpc>
                <a:spcPts val="4520"/>
              </a:lnSpc>
            </a:pPr>
            <a:r>
              <a:rPr lang="en-US" sz="2443">
                <a:solidFill>
                  <a:srgbClr val="1E2F40"/>
                </a:solidFill>
                <a:latin typeface="Roboto"/>
                <a:ea typeface="Roboto"/>
                <a:cs typeface="Roboto"/>
                <a:sym typeface="Roboto"/>
              </a:rPr>
              <a:t>Harder to understand how processes are connected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77823" y="855744"/>
            <a:ext cx="6581013" cy="1329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58"/>
              </a:lnSpc>
            </a:pPr>
            <a:r>
              <a:rPr lang="en-US" sz="9958" b="1" spc="-298" dirty="0">
                <a:solidFill>
                  <a:srgbClr val="1E3243"/>
                </a:solidFill>
                <a:latin typeface="Roboto Bold"/>
                <a:ea typeface="Roboto Bold"/>
                <a:cs typeface="Roboto Bold"/>
                <a:sym typeface="Roboto Bold"/>
              </a:rPr>
              <a:t>Objectives</a:t>
            </a:r>
          </a:p>
        </p:txBody>
      </p:sp>
      <p:sp>
        <p:nvSpPr>
          <p:cNvPr id="4" name="Freeform 4"/>
          <p:cNvSpPr/>
          <p:nvPr/>
        </p:nvSpPr>
        <p:spPr>
          <a:xfrm>
            <a:off x="866775" y="2352675"/>
            <a:ext cx="2619375" cy="219075"/>
          </a:xfrm>
          <a:custGeom>
            <a:avLst/>
            <a:gdLst/>
            <a:ahLst/>
            <a:cxnLst/>
            <a:rect l="l" t="t" r="r" b="b"/>
            <a:pathLst>
              <a:path w="2619375" h="219075">
                <a:moveTo>
                  <a:pt x="0" y="0"/>
                </a:moveTo>
                <a:lnTo>
                  <a:pt x="2619375" y="0"/>
                </a:lnTo>
                <a:lnTo>
                  <a:pt x="2619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353550" y="1066800"/>
            <a:ext cx="8067675" cy="1724025"/>
          </a:xfrm>
          <a:custGeom>
            <a:avLst/>
            <a:gdLst/>
            <a:ahLst/>
            <a:cxnLst/>
            <a:rect l="l" t="t" r="r" b="b"/>
            <a:pathLst>
              <a:path w="8067675" h="1724025">
                <a:moveTo>
                  <a:pt x="0" y="0"/>
                </a:moveTo>
                <a:lnTo>
                  <a:pt x="8067675" y="0"/>
                </a:lnTo>
                <a:lnTo>
                  <a:pt x="80676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930384" y="1668302"/>
            <a:ext cx="603504" cy="58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57"/>
              </a:lnSpc>
            </a:pPr>
            <a:r>
              <a:rPr lang="en-US" sz="4357" b="1" spc="-13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66576" y="1458343"/>
            <a:ext cx="4059936" cy="915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585" b="1">
                <a:solidFill>
                  <a:srgbClr val="1E3243"/>
                </a:solidFill>
                <a:latin typeface="Roboto Bold"/>
                <a:ea typeface="Roboto Bold"/>
                <a:cs typeface="Roboto Bold"/>
                <a:sym typeface="Roboto Bold"/>
              </a:rPr>
              <a:t>Understand Linux process hierarchy and relationships</a:t>
            </a:r>
          </a:p>
        </p:txBody>
      </p:sp>
      <p:sp>
        <p:nvSpPr>
          <p:cNvPr id="8" name="Freeform 8"/>
          <p:cNvSpPr/>
          <p:nvPr/>
        </p:nvSpPr>
        <p:spPr>
          <a:xfrm>
            <a:off x="9353550" y="2781300"/>
            <a:ext cx="8067675" cy="1504950"/>
          </a:xfrm>
          <a:custGeom>
            <a:avLst/>
            <a:gdLst/>
            <a:ahLst/>
            <a:cxnLst/>
            <a:rect l="l" t="t" r="r" b="b"/>
            <a:pathLst>
              <a:path w="8067675" h="1504950">
                <a:moveTo>
                  <a:pt x="0" y="0"/>
                </a:moveTo>
                <a:lnTo>
                  <a:pt x="8067675" y="0"/>
                </a:lnTo>
                <a:lnTo>
                  <a:pt x="80676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930384" y="3293648"/>
            <a:ext cx="603504" cy="58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57"/>
              </a:lnSpc>
            </a:pPr>
            <a:r>
              <a:rPr lang="en-US" sz="4357" b="1" spc="-13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466576" y="3073090"/>
            <a:ext cx="2871216" cy="904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2620" b="1">
                <a:solidFill>
                  <a:srgbClr val="1E3243"/>
                </a:solidFill>
                <a:latin typeface="Roboto Bold"/>
                <a:ea typeface="Roboto Bold"/>
                <a:cs typeface="Roboto Bold"/>
                <a:sym typeface="Roboto Bold"/>
              </a:rPr>
              <a:t>Read process data from /proc</a:t>
            </a:r>
          </a:p>
        </p:txBody>
      </p:sp>
      <p:sp>
        <p:nvSpPr>
          <p:cNvPr id="11" name="Freeform 11"/>
          <p:cNvSpPr/>
          <p:nvPr/>
        </p:nvSpPr>
        <p:spPr>
          <a:xfrm>
            <a:off x="9353550" y="4286250"/>
            <a:ext cx="8067675" cy="1714500"/>
          </a:xfrm>
          <a:custGeom>
            <a:avLst/>
            <a:gdLst/>
            <a:ahLst/>
            <a:cxnLst/>
            <a:rect l="l" t="t" r="r" b="b"/>
            <a:pathLst>
              <a:path w="8067675" h="1714500">
                <a:moveTo>
                  <a:pt x="0" y="0"/>
                </a:moveTo>
                <a:lnTo>
                  <a:pt x="8067675" y="0"/>
                </a:lnTo>
                <a:lnTo>
                  <a:pt x="80676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9930384" y="4918994"/>
            <a:ext cx="603504" cy="58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57"/>
              </a:lnSpc>
            </a:pPr>
            <a:r>
              <a:rPr lang="en-US" sz="4357" b="1" spc="-13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66576" y="4698436"/>
            <a:ext cx="4389120" cy="904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2620" b="1">
                <a:solidFill>
                  <a:srgbClr val="1E3243"/>
                </a:solidFill>
                <a:latin typeface="Roboto Bold"/>
                <a:ea typeface="Roboto Bold"/>
                <a:cs typeface="Roboto Bold"/>
                <a:sym typeface="Roboto Bold"/>
              </a:rPr>
              <a:t>Identify key attributes: </a:t>
            </a:r>
          </a:p>
          <a:p>
            <a:pPr algn="l">
              <a:lnSpc>
                <a:spcPts val="3668"/>
              </a:lnSpc>
            </a:pPr>
            <a:r>
              <a:rPr lang="en-US" sz="2620" b="1">
                <a:solidFill>
                  <a:srgbClr val="1E3243"/>
                </a:solidFill>
                <a:latin typeface="Roboto Bold"/>
                <a:ea typeface="Roboto Bold"/>
                <a:cs typeface="Roboto Bold"/>
                <a:sym typeface="Roboto Bold"/>
              </a:rPr>
              <a:t>PID, PPID, and process name</a:t>
            </a:r>
          </a:p>
        </p:txBody>
      </p:sp>
      <p:sp>
        <p:nvSpPr>
          <p:cNvPr id="14" name="Freeform 14"/>
          <p:cNvSpPr/>
          <p:nvPr/>
        </p:nvSpPr>
        <p:spPr>
          <a:xfrm>
            <a:off x="9353550" y="6000750"/>
            <a:ext cx="8067675" cy="1714500"/>
          </a:xfrm>
          <a:custGeom>
            <a:avLst/>
            <a:gdLst/>
            <a:ahLst/>
            <a:cxnLst/>
            <a:rect l="l" t="t" r="r" b="b"/>
            <a:pathLst>
              <a:path w="8067675" h="1714500">
                <a:moveTo>
                  <a:pt x="0" y="0"/>
                </a:moveTo>
                <a:lnTo>
                  <a:pt x="8067675" y="0"/>
                </a:lnTo>
                <a:lnTo>
                  <a:pt x="80676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9930384" y="6544340"/>
            <a:ext cx="603504" cy="58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57"/>
              </a:lnSpc>
            </a:pPr>
            <a:r>
              <a:rPr lang="en-US" sz="4357" b="1" spc="-13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66576" y="6323782"/>
            <a:ext cx="3273552" cy="904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2620" b="1">
                <a:solidFill>
                  <a:srgbClr val="1E3243"/>
                </a:solidFill>
                <a:latin typeface="Roboto Bold"/>
                <a:ea typeface="Roboto Bold"/>
                <a:cs typeface="Roboto Bold"/>
                <a:sym typeface="Roboto Bold"/>
              </a:rPr>
              <a:t>Build and display the hierarchy as a tree</a:t>
            </a:r>
          </a:p>
        </p:txBody>
      </p:sp>
      <p:sp>
        <p:nvSpPr>
          <p:cNvPr id="17" name="Freeform 17"/>
          <p:cNvSpPr/>
          <p:nvPr/>
        </p:nvSpPr>
        <p:spPr>
          <a:xfrm>
            <a:off x="9353550" y="7496175"/>
            <a:ext cx="8067675" cy="1724025"/>
          </a:xfrm>
          <a:custGeom>
            <a:avLst/>
            <a:gdLst/>
            <a:ahLst/>
            <a:cxnLst/>
            <a:rect l="l" t="t" r="r" b="b"/>
            <a:pathLst>
              <a:path w="8067675" h="1724025">
                <a:moveTo>
                  <a:pt x="0" y="0"/>
                </a:moveTo>
                <a:lnTo>
                  <a:pt x="8067675" y="0"/>
                </a:lnTo>
                <a:lnTo>
                  <a:pt x="80676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9930384" y="8169686"/>
            <a:ext cx="603504" cy="58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57"/>
              </a:lnSpc>
            </a:pPr>
            <a:r>
              <a:rPr lang="en-US" sz="4357" b="1" spc="-13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66576" y="7949128"/>
            <a:ext cx="3566160" cy="904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2620" b="1">
                <a:solidFill>
                  <a:srgbClr val="1E3243"/>
                </a:solidFill>
                <a:latin typeface="Roboto Bold"/>
                <a:ea typeface="Roboto Bold"/>
                <a:cs typeface="Roboto Bold"/>
                <a:sym typeface="Roboto Bold"/>
              </a:rPr>
              <a:t>Validate output against the pstree utility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77824" y="3952472"/>
            <a:ext cx="4828032" cy="5427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51"/>
              </a:lnSpc>
            </a:pPr>
            <a:r>
              <a:rPr lang="en-US" sz="7051" b="1" spc="-211">
                <a:solidFill>
                  <a:srgbClr val="1E3243"/>
                </a:solidFill>
                <a:latin typeface="Roboto Bold"/>
                <a:ea typeface="Roboto Bold"/>
                <a:cs typeface="Roboto Bold"/>
                <a:sym typeface="Roboto Bold"/>
              </a:rPr>
              <a:t>Build a clear, </a:t>
            </a:r>
            <a:r>
              <a:rPr lang="en-US" sz="7051" b="1" spc="-211">
                <a:solidFill>
                  <a:srgbClr val="F27C00"/>
                </a:solidFill>
                <a:latin typeface="Roboto Bold"/>
                <a:ea typeface="Roboto Bold"/>
                <a:cs typeface="Roboto Bold"/>
                <a:sym typeface="Roboto Bold"/>
              </a:rPr>
              <a:t>accurate view</a:t>
            </a:r>
            <a:r>
              <a:rPr lang="en-US" sz="7051" b="1" spc="-211">
                <a:solidFill>
                  <a:srgbClr val="1E3243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</a:p>
          <a:p>
            <a:pPr algn="l">
              <a:lnSpc>
                <a:spcPts val="7051"/>
              </a:lnSpc>
            </a:pPr>
            <a:r>
              <a:rPr lang="en-US" sz="7051" b="1" spc="-211">
                <a:solidFill>
                  <a:srgbClr val="1E3243"/>
                </a:solidFill>
                <a:latin typeface="Roboto Bold"/>
                <a:ea typeface="Roboto Bold"/>
                <a:cs typeface="Roboto Bold"/>
                <a:sym typeface="Roboto Bold"/>
              </a:rPr>
              <a:t>of Linux process hierarchies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04672" y="581285"/>
            <a:ext cx="7150608" cy="12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39"/>
              </a:lnSpc>
            </a:pPr>
            <a:r>
              <a:rPr lang="en-US" sz="9639" b="1" spc="-192">
                <a:solidFill>
                  <a:srgbClr val="172A3E"/>
                </a:solidFill>
                <a:latin typeface="Roboto Bold"/>
                <a:ea typeface="Roboto Bold"/>
                <a:cs typeface="Roboto Bold"/>
                <a:sym typeface="Roboto Bold"/>
              </a:rPr>
              <a:t>Project Logic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41248" y="1974184"/>
            <a:ext cx="8394192" cy="971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7"/>
              </a:lnSpc>
            </a:pPr>
            <a:r>
              <a:rPr lang="en-US" sz="2975">
                <a:solidFill>
                  <a:srgbClr val="172A3E"/>
                </a:solidFill>
                <a:latin typeface="Roboto"/>
                <a:ea typeface="Roboto"/>
                <a:cs typeface="Roboto"/>
                <a:sym typeface="Roboto"/>
              </a:rPr>
              <a:t>Our tool builds a full process tree by reading </a:t>
            </a:r>
            <a:r>
              <a:rPr lang="en-US" sz="2975" b="1">
                <a:solidFill>
                  <a:srgbClr val="F27420"/>
                </a:solidFill>
                <a:latin typeface="Roboto Bold"/>
                <a:ea typeface="Roboto Bold"/>
                <a:cs typeface="Roboto Bold"/>
                <a:sym typeface="Roboto Bold"/>
              </a:rPr>
              <a:t>/proc</a:t>
            </a:r>
            <a:r>
              <a:rPr lang="en-US" sz="2975">
                <a:solidFill>
                  <a:srgbClr val="172A3E"/>
                </a:solidFill>
                <a:latin typeface="Roboto"/>
                <a:ea typeface="Roboto"/>
                <a:cs typeface="Roboto"/>
                <a:sym typeface="Roboto"/>
              </a:rPr>
              <a:t> and linking processes through PPID relationships.</a:t>
            </a:r>
          </a:p>
        </p:txBody>
      </p:sp>
      <p:sp>
        <p:nvSpPr>
          <p:cNvPr id="5" name="Freeform 5"/>
          <p:cNvSpPr/>
          <p:nvPr/>
        </p:nvSpPr>
        <p:spPr>
          <a:xfrm>
            <a:off x="647700" y="3209925"/>
            <a:ext cx="1533525" cy="1295400"/>
          </a:xfrm>
          <a:custGeom>
            <a:avLst/>
            <a:gdLst/>
            <a:ahLst/>
            <a:cxnLst/>
            <a:rect l="l" t="t" r="r" b="b"/>
            <a:pathLst>
              <a:path w="1533525" h="1295400">
                <a:moveTo>
                  <a:pt x="0" y="0"/>
                </a:moveTo>
                <a:lnTo>
                  <a:pt x="1533525" y="0"/>
                </a:lnTo>
                <a:lnTo>
                  <a:pt x="153352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52144" y="3620874"/>
            <a:ext cx="548640" cy="508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6"/>
              </a:lnSpc>
            </a:pPr>
            <a:r>
              <a:rPr lang="en-US" sz="3896" b="1" spc="-7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id="7" name="Freeform 7"/>
          <p:cNvSpPr/>
          <p:nvPr/>
        </p:nvSpPr>
        <p:spPr>
          <a:xfrm>
            <a:off x="1952625" y="3209925"/>
            <a:ext cx="8286750" cy="1295400"/>
          </a:xfrm>
          <a:custGeom>
            <a:avLst/>
            <a:gdLst/>
            <a:ahLst/>
            <a:cxnLst/>
            <a:rect l="l" t="t" r="r" b="b"/>
            <a:pathLst>
              <a:path w="8286750" h="1295400">
                <a:moveTo>
                  <a:pt x="0" y="0"/>
                </a:moveTo>
                <a:lnTo>
                  <a:pt x="8286750" y="0"/>
                </a:lnTo>
                <a:lnTo>
                  <a:pt x="82867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834640" y="3491294"/>
            <a:ext cx="5797296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>
                <a:solidFill>
                  <a:srgbClr val="172A3E"/>
                </a:solidFill>
                <a:latin typeface="Roboto"/>
                <a:ea typeface="Roboto"/>
                <a:cs typeface="Roboto"/>
                <a:sym typeface="Roboto"/>
              </a:rPr>
              <a:t>Start → open /proc → read directory entries and identify numeric PID folders</a:t>
            </a:r>
          </a:p>
        </p:txBody>
      </p:sp>
      <p:sp>
        <p:nvSpPr>
          <p:cNvPr id="9" name="Freeform 9"/>
          <p:cNvSpPr/>
          <p:nvPr/>
        </p:nvSpPr>
        <p:spPr>
          <a:xfrm>
            <a:off x="4781550" y="4067175"/>
            <a:ext cx="447675" cy="647700"/>
          </a:xfrm>
          <a:custGeom>
            <a:avLst/>
            <a:gdLst/>
            <a:ahLst/>
            <a:cxnLst/>
            <a:rect l="l" t="t" r="r" b="b"/>
            <a:pathLst>
              <a:path w="447675" h="647700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47700" y="4286250"/>
            <a:ext cx="1533525" cy="1285875"/>
          </a:xfrm>
          <a:custGeom>
            <a:avLst/>
            <a:gdLst/>
            <a:ahLst/>
            <a:cxnLst/>
            <a:rect l="l" t="t" r="r" b="b"/>
            <a:pathLst>
              <a:path w="1533525" h="128587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152144" y="4752444"/>
            <a:ext cx="548640" cy="508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6"/>
              </a:lnSpc>
            </a:pPr>
            <a:r>
              <a:rPr lang="en-US" sz="3896" b="1" spc="-7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id="12" name="Freeform 12"/>
          <p:cNvSpPr/>
          <p:nvPr/>
        </p:nvSpPr>
        <p:spPr>
          <a:xfrm>
            <a:off x="1952625" y="4286250"/>
            <a:ext cx="8286750" cy="1285875"/>
          </a:xfrm>
          <a:custGeom>
            <a:avLst/>
            <a:gdLst/>
            <a:ahLst/>
            <a:cxnLst/>
            <a:rect l="l" t="t" r="r" b="b"/>
            <a:pathLst>
              <a:path w="8286750" h="1285875">
                <a:moveTo>
                  <a:pt x="0" y="0"/>
                </a:moveTo>
                <a:lnTo>
                  <a:pt x="8286750" y="0"/>
                </a:lnTo>
                <a:lnTo>
                  <a:pt x="82867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834640" y="4612577"/>
            <a:ext cx="4389120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>
                <a:solidFill>
                  <a:srgbClr val="172A3E"/>
                </a:solidFill>
                <a:latin typeface="Roboto"/>
                <a:ea typeface="Roboto"/>
                <a:cs typeface="Roboto"/>
                <a:sym typeface="Roboto"/>
              </a:rPr>
              <a:t>Read /proc,&lt;PID/&gt;stat to extract PID, process name, and PPID</a:t>
            </a:r>
          </a:p>
        </p:txBody>
      </p:sp>
      <p:sp>
        <p:nvSpPr>
          <p:cNvPr id="14" name="Freeform 14"/>
          <p:cNvSpPr/>
          <p:nvPr/>
        </p:nvSpPr>
        <p:spPr>
          <a:xfrm>
            <a:off x="4781550" y="5353050"/>
            <a:ext cx="447675" cy="438150"/>
          </a:xfrm>
          <a:custGeom>
            <a:avLst/>
            <a:gdLst/>
            <a:ahLst/>
            <a:cxnLst/>
            <a:rect l="l" t="t" r="r" b="b"/>
            <a:pathLst>
              <a:path w="447675" h="438150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47700" y="5572125"/>
            <a:ext cx="1533525" cy="1076325"/>
          </a:xfrm>
          <a:custGeom>
            <a:avLst/>
            <a:gdLst/>
            <a:ahLst/>
            <a:cxnLst/>
            <a:rect l="l" t="t" r="r" b="b"/>
            <a:pathLst>
              <a:path w="1533525" h="1076325">
                <a:moveTo>
                  <a:pt x="0" y="0"/>
                </a:moveTo>
                <a:lnTo>
                  <a:pt x="1533525" y="0"/>
                </a:lnTo>
                <a:lnTo>
                  <a:pt x="1533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152144" y="5873727"/>
            <a:ext cx="548640" cy="508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6"/>
              </a:lnSpc>
            </a:pPr>
            <a:r>
              <a:rPr lang="en-US" sz="3896" b="1" spc="-7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id="17" name="Freeform 17"/>
          <p:cNvSpPr/>
          <p:nvPr/>
        </p:nvSpPr>
        <p:spPr>
          <a:xfrm>
            <a:off x="1952625" y="5572125"/>
            <a:ext cx="8286750" cy="1076325"/>
          </a:xfrm>
          <a:custGeom>
            <a:avLst/>
            <a:gdLst/>
            <a:ahLst/>
            <a:cxnLst/>
            <a:rect l="l" t="t" r="r" b="b"/>
            <a:pathLst>
              <a:path w="8286750" h="1076325">
                <a:moveTo>
                  <a:pt x="0" y="0"/>
                </a:moveTo>
                <a:lnTo>
                  <a:pt x="8286750" y="0"/>
                </a:lnTo>
                <a:lnTo>
                  <a:pt x="8286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2834640" y="5733860"/>
            <a:ext cx="4443984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7">
                <a:solidFill>
                  <a:srgbClr val="172A3E"/>
                </a:solidFill>
                <a:latin typeface="Roboto"/>
                <a:ea typeface="Roboto"/>
                <a:cs typeface="Roboto"/>
                <a:sym typeface="Roboto"/>
              </a:rPr>
              <a:t>Store process information and identify parent-child relationships</a:t>
            </a:r>
          </a:p>
        </p:txBody>
      </p:sp>
      <p:sp>
        <p:nvSpPr>
          <p:cNvPr id="19" name="Freeform 19"/>
          <p:cNvSpPr/>
          <p:nvPr/>
        </p:nvSpPr>
        <p:spPr>
          <a:xfrm>
            <a:off x="4781550" y="6429375"/>
            <a:ext cx="447675" cy="428625"/>
          </a:xfrm>
          <a:custGeom>
            <a:avLst/>
            <a:gdLst/>
            <a:ahLst/>
            <a:cxnLst/>
            <a:rect l="l" t="t" r="r" b="b"/>
            <a:pathLst>
              <a:path w="447675" h="42862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647700" y="6638925"/>
            <a:ext cx="1533525" cy="1076325"/>
          </a:xfrm>
          <a:custGeom>
            <a:avLst/>
            <a:gdLst/>
            <a:ahLst/>
            <a:cxnLst/>
            <a:rect l="l" t="t" r="r" b="b"/>
            <a:pathLst>
              <a:path w="1533525" h="1076325">
                <a:moveTo>
                  <a:pt x="0" y="0"/>
                </a:moveTo>
                <a:lnTo>
                  <a:pt x="1533525" y="0"/>
                </a:lnTo>
                <a:lnTo>
                  <a:pt x="15335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152144" y="7005297"/>
            <a:ext cx="548640" cy="508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6"/>
              </a:lnSpc>
            </a:pPr>
            <a:r>
              <a:rPr lang="en-US" sz="3896" b="1" spc="-7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id="22" name="Freeform 22"/>
          <p:cNvSpPr/>
          <p:nvPr/>
        </p:nvSpPr>
        <p:spPr>
          <a:xfrm>
            <a:off x="1952625" y="6638925"/>
            <a:ext cx="8286750" cy="1076325"/>
          </a:xfrm>
          <a:custGeom>
            <a:avLst/>
            <a:gdLst/>
            <a:ahLst/>
            <a:cxnLst/>
            <a:rect l="l" t="t" r="r" b="b"/>
            <a:pathLst>
              <a:path w="8286750" h="1076325">
                <a:moveTo>
                  <a:pt x="0" y="0"/>
                </a:moveTo>
                <a:lnTo>
                  <a:pt x="8286750" y="0"/>
                </a:lnTo>
                <a:lnTo>
                  <a:pt x="8286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2834640" y="6855143"/>
            <a:ext cx="4352544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9"/>
              </a:lnSpc>
            </a:pPr>
            <a:r>
              <a:rPr lang="en-US" sz="2407">
                <a:solidFill>
                  <a:srgbClr val="172A3E"/>
                </a:solidFill>
                <a:latin typeface="Roboto"/>
                <a:ea typeface="Roboto"/>
                <a:cs typeface="Roboto"/>
                <a:sym typeface="Roboto"/>
              </a:rPr>
              <a:t>Recursively traverse and display the process hierarchy</a:t>
            </a:r>
          </a:p>
        </p:txBody>
      </p:sp>
      <p:sp>
        <p:nvSpPr>
          <p:cNvPr id="24" name="Freeform 24"/>
          <p:cNvSpPr/>
          <p:nvPr/>
        </p:nvSpPr>
        <p:spPr>
          <a:xfrm>
            <a:off x="4781550" y="7496175"/>
            <a:ext cx="447675" cy="438150"/>
          </a:xfrm>
          <a:custGeom>
            <a:avLst/>
            <a:gdLst/>
            <a:ahLst/>
            <a:cxnLst/>
            <a:rect l="l" t="t" r="r" b="b"/>
            <a:pathLst>
              <a:path w="447675" h="438150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647700" y="7715250"/>
            <a:ext cx="1533525" cy="1285875"/>
          </a:xfrm>
          <a:custGeom>
            <a:avLst/>
            <a:gdLst/>
            <a:ahLst/>
            <a:cxnLst/>
            <a:rect l="l" t="t" r="r" b="b"/>
            <a:pathLst>
              <a:path w="1533525" h="1285875">
                <a:moveTo>
                  <a:pt x="0" y="0"/>
                </a:moveTo>
                <a:lnTo>
                  <a:pt x="1533525" y="0"/>
                </a:lnTo>
                <a:lnTo>
                  <a:pt x="1533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152144" y="8126580"/>
            <a:ext cx="548640" cy="508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6"/>
              </a:lnSpc>
            </a:pPr>
            <a:r>
              <a:rPr lang="en-US" sz="3896" b="1" spc="-7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05</a:t>
            </a:r>
          </a:p>
        </p:txBody>
      </p:sp>
      <p:sp>
        <p:nvSpPr>
          <p:cNvPr id="27" name="Freeform 27"/>
          <p:cNvSpPr/>
          <p:nvPr/>
        </p:nvSpPr>
        <p:spPr>
          <a:xfrm>
            <a:off x="1952625" y="7715250"/>
            <a:ext cx="8286750" cy="1285875"/>
          </a:xfrm>
          <a:custGeom>
            <a:avLst/>
            <a:gdLst/>
            <a:ahLst/>
            <a:cxnLst/>
            <a:rect l="l" t="t" r="r" b="b"/>
            <a:pathLst>
              <a:path w="8286750" h="1285875">
                <a:moveTo>
                  <a:pt x="0" y="0"/>
                </a:moveTo>
                <a:lnTo>
                  <a:pt x="8286750" y="0"/>
                </a:lnTo>
                <a:lnTo>
                  <a:pt x="82867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0229850" y="2143125"/>
            <a:ext cx="7410450" cy="6858000"/>
          </a:xfrm>
          <a:custGeom>
            <a:avLst/>
            <a:gdLst/>
            <a:ahLst/>
            <a:cxnLst/>
            <a:rect l="l" t="t" r="r" b="b"/>
            <a:pathLst>
              <a:path w="7410450" h="6858000">
                <a:moveTo>
                  <a:pt x="0" y="0"/>
                </a:moveTo>
                <a:lnTo>
                  <a:pt x="7410450" y="0"/>
                </a:lnTo>
                <a:lnTo>
                  <a:pt x="741045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0954512" y="2599959"/>
            <a:ext cx="3108960" cy="51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3152" b="1">
                <a:solidFill>
                  <a:srgbClr val="172A3E"/>
                </a:solidFill>
                <a:latin typeface="Roboto Bold"/>
                <a:ea typeface="Roboto Bold"/>
                <a:cs typeface="Roboto Bold"/>
                <a:sym typeface="Roboto Bold"/>
              </a:rPr>
              <a:t>Core relationship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54512" y="3268599"/>
            <a:ext cx="6126480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1"/>
              </a:lnSpc>
            </a:pPr>
            <a:r>
              <a:rPr lang="en-US" sz="3967" b="1">
                <a:solidFill>
                  <a:srgbClr val="F27420"/>
                </a:solidFill>
                <a:latin typeface="Roboto Bold"/>
                <a:ea typeface="Roboto Bold"/>
                <a:cs typeface="Roboto Bold"/>
                <a:sym typeface="Roboto Bold"/>
              </a:rPr>
              <a:t>Child process PPID equals parent process PID</a:t>
            </a:r>
          </a:p>
        </p:txBody>
      </p:sp>
      <p:sp>
        <p:nvSpPr>
          <p:cNvPr id="31" name="Freeform 31"/>
          <p:cNvSpPr/>
          <p:nvPr/>
        </p:nvSpPr>
        <p:spPr>
          <a:xfrm>
            <a:off x="10877550" y="4714875"/>
            <a:ext cx="6324600" cy="219075"/>
          </a:xfrm>
          <a:custGeom>
            <a:avLst/>
            <a:gdLst/>
            <a:ahLst/>
            <a:cxnLst/>
            <a:rect l="l" t="t" r="r" b="b"/>
            <a:pathLst>
              <a:path w="6324600" h="219075">
                <a:moveTo>
                  <a:pt x="0" y="0"/>
                </a:moveTo>
                <a:lnTo>
                  <a:pt x="6324600" y="0"/>
                </a:lnTo>
                <a:lnTo>
                  <a:pt x="6324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0954512" y="5100237"/>
            <a:ext cx="3291840" cy="522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1"/>
              </a:lnSpc>
            </a:pPr>
            <a:r>
              <a:rPr lang="en-US" sz="3116" b="1">
                <a:solidFill>
                  <a:srgbClr val="172A3E"/>
                </a:solidFill>
                <a:latin typeface="Roboto Bold"/>
                <a:ea typeface="Roboto Bold"/>
                <a:cs typeface="Roboto Bold"/>
                <a:sym typeface="Roboto Bold"/>
              </a:rPr>
              <a:t>Example hierarchy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064240" y="5761549"/>
            <a:ext cx="1755648" cy="433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620">
                <a:solidFill>
                  <a:srgbClr val="172A3E"/>
                </a:solidFill>
                <a:latin typeface="Roboto"/>
                <a:ea typeface="Roboto"/>
                <a:cs typeface="Roboto"/>
                <a:sym typeface="Roboto"/>
              </a:rPr>
              <a:t>systemd [1]</a:t>
            </a:r>
          </a:p>
        </p:txBody>
      </p:sp>
      <p:sp>
        <p:nvSpPr>
          <p:cNvPr id="34" name="Freeform 34"/>
          <p:cNvSpPr/>
          <p:nvPr/>
        </p:nvSpPr>
        <p:spPr>
          <a:xfrm>
            <a:off x="11096625" y="6429375"/>
            <a:ext cx="885825" cy="219075"/>
          </a:xfrm>
          <a:custGeom>
            <a:avLst/>
            <a:gdLst/>
            <a:ahLst/>
            <a:cxnLst/>
            <a:rect l="l" t="t" r="r" b="b"/>
            <a:pathLst>
              <a:path w="885825" h="219075">
                <a:moveTo>
                  <a:pt x="0" y="0"/>
                </a:moveTo>
                <a:lnTo>
                  <a:pt x="885825" y="0"/>
                </a:lnTo>
                <a:lnTo>
                  <a:pt x="885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1942064" y="6337621"/>
            <a:ext cx="1664208" cy="433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620">
                <a:solidFill>
                  <a:srgbClr val="172A3E"/>
                </a:solidFill>
                <a:latin typeface="Roboto"/>
                <a:ea typeface="Roboto"/>
                <a:cs typeface="Roboto"/>
                <a:sym typeface="Roboto"/>
              </a:rPr>
              <a:t>sshd [500]</a:t>
            </a:r>
          </a:p>
        </p:txBody>
      </p:sp>
      <p:sp>
        <p:nvSpPr>
          <p:cNvPr id="36" name="Freeform 36"/>
          <p:cNvSpPr/>
          <p:nvPr/>
        </p:nvSpPr>
        <p:spPr>
          <a:xfrm>
            <a:off x="11972925" y="6638925"/>
            <a:ext cx="657225" cy="647700"/>
          </a:xfrm>
          <a:custGeom>
            <a:avLst/>
            <a:gdLst/>
            <a:ahLst/>
            <a:cxnLst/>
            <a:rect l="l" t="t" r="r" b="b"/>
            <a:pathLst>
              <a:path w="657225" h="647700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2600432" y="6893119"/>
            <a:ext cx="1664208" cy="433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620">
                <a:solidFill>
                  <a:srgbClr val="172A3E"/>
                </a:solidFill>
                <a:latin typeface="Roboto"/>
                <a:ea typeface="Roboto"/>
                <a:cs typeface="Roboto"/>
                <a:sym typeface="Roboto"/>
              </a:rPr>
              <a:t>bash [700]</a:t>
            </a:r>
          </a:p>
        </p:txBody>
      </p:sp>
      <p:sp>
        <p:nvSpPr>
          <p:cNvPr id="38" name="Freeform 38"/>
          <p:cNvSpPr/>
          <p:nvPr/>
        </p:nvSpPr>
        <p:spPr>
          <a:xfrm>
            <a:off x="12620625" y="7286625"/>
            <a:ext cx="666750" cy="428625"/>
          </a:xfrm>
          <a:custGeom>
            <a:avLst/>
            <a:gdLst/>
            <a:ahLst/>
            <a:cxnLst/>
            <a:rect l="l" t="t" r="r" b="b"/>
            <a:pathLst>
              <a:path w="666750" h="428625">
                <a:moveTo>
                  <a:pt x="0" y="0"/>
                </a:moveTo>
                <a:lnTo>
                  <a:pt x="666750" y="0"/>
                </a:lnTo>
                <a:lnTo>
                  <a:pt x="666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13405104" y="7458904"/>
            <a:ext cx="1737360" cy="433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620">
                <a:solidFill>
                  <a:srgbClr val="172A3E"/>
                </a:solidFill>
                <a:latin typeface="Roboto"/>
                <a:ea typeface="Roboto"/>
                <a:cs typeface="Roboto"/>
                <a:sym typeface="Roboto"/>
              </a:rPr>
              <a:t>sleep [800]</a:t>
            </a:r>
          </a:p>
        </p:txBody>
      </p:sp>
      <p:sp>
        <p:nvSpPr>
          <p:cNvPr id="40" name="Freeform 40"/>
          <p:cNvSpPr/>
          <p:nvPr/>
        </p:nvSpPr>
        <p:spPr>
          <a:xfrm>
            <a:off x="11096625" y="8143875"/>
            <a:ext cx="1314450" cy="428625"/>
          </a:xfrm>
          <a:custGeom>
            <a:avLst/>
            <a:gdLst/>
            <a:ahLst/>
            <a:cxnLst/>
            <a:rect l="l" t="t" r="r" b="b"/>
            <a:pathLst>
              <a:path w="1314450" h="428625">
                <a:moveTo>
                  <a:pt x="0" y="0"/>
                </a:moveTo>
                <a:lnTo>
                  <a:pt x="1314450" y="0"/>
                </a:lnTo>
                <a:lnTo>
                  <a:pt x="1314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12417552" y="8127559"/>
            <a:ext cx="3401568" cy="433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620">
                <a:solidFill>
                  <a:srgbClr val="172A3E"/>
                </a:solidFill>
                <a:latin typeface="Roboto"/>
                <a:ea typeface="Roboto"/>
                <a:cs typeface="Roboto"/>
                <a:sym typeface="Roboto"/>
              </a:rPr>
              <a:t>another_process [900]</a:t>
            </a:r>
          </a:p>
        </p:txBody>
      </p:sp>
      <p:sp>
        <p:nvSpPr>
          <p:cNvPr id="42" name="Freeform 42"/>
          <p:cNvSpPr/>
          <p:nvPr/>
        </p:nvSpPr>
        <p:spPr>
          <a:xfrm>
            <a:off x="647700" y="9001125"/>
            <a:ext cx="16992600" cy="1076325"/>
          </a:xfrm>
          <a:custGeom>
            <a:avLst/>
            <a:gdLst/>
            <a:ahLst/>
            <a:cxnLst/>
            <a:rect l="l" t="t" r="r" b="b"/>
            <a:pathLst>
              <a:path w="16992600" h="1076325">
                <a:moveTo>
                  <a:pt x="0" y="0"/>
                </a:moveTo>
                <a:lnTo>
                  <a:pt x="16992600" y="0"/>
                </a:lnTo>
                <a:lnTo>
                  <a:pt x="16992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2999232" y="9268968"/>
            <a:ext cx="12106656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7"/>
              </a:lnSpc>
            </a:pPr>
            <a:r>
              <a:rPr lang="en-US" sz="3223" b="1">
                <a:solidFill>
                  <a:srgbClr val="F27420"/>
                </a:solidFill>
                <a:latin typeface="Roboto Bold"/>
                <a:ea typeface="Roboto Bold"/>
                <a:cs typeface="Roboto Bold"/>
                <a:sym typeface="Roboto Bold"/>
              </a:rPr>
              <a:t>PPID</a:t>
            </a:r>
            <a:r>
              <a:rPr lang="en-US" sz="322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links each process to its parent, enabling a full process tree.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834640" y="8161401"/>
            <a:ext cx="475488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4"/>
              </a:lnSpc>
            </a:pPr>
            <a:r>
              <a:rPr lang="en-US" sz="2195">
                <a:solidFill>
                  <a:srgbClr val="172A3E"/>
                </a:solidFill>
                <a:latin typeface="Roboto"/>
                <a:ea typeface="Roboto"/>
                <a:cs typeface="Roboto"/>
                <a:sym typeface="Roboto"/>
              </a:rPr>
              <a:t>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" y="698042"/>
            <a:ext cx="9400032" cy="2141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86"/>
              </a:lnSpc>
            </a:pPr>
            <a:r>
              <a:rPr lang="en-US" sz="8186" b="1" spc="-163">
                <a:solidFill>
                  <a:srgbClr val="132639"/>
                </a:solidFill>
                <a:latin typeface="Roboto Bold"/>
                <a:ea typeface="Roboto Bold"/>
                <a:cs typeface="Roboto Bold"/>
                <a:sym typeface="Roboto Bold"/>
              </a:rPr>
              <a:t>Sample Test Cases &amp; Expected Outcome</a:t>
            </a:r>
          </a:p>
        </p:txBody>
      </p:sp>
      <p:sp>
        <p:nvSpPr>
          <p:cNvPr id="4" name="Freeform 4"/>
          <p:cNvSpPr/>
          <p:nvPr/>
        </p:nvSpPr>
        <p:spPr>
          <a:xfrm>
            <a:off x="866775" y="2781300"/>
            <a:ext cx="2619375" cy="438150"/>
          </a:xfrm>
          <a:custGeom>
            <a:avLst/>
            <a:gdLst/>
            <a:ahLst/>
            <a:cxnLst/>
            <a:rect l="l" t="t" r="r" b="b"/>
            <a:pathLst>
              <a:path w="2619375" h="438150">
                <a:moveTo>
                  <a:pt x="0" y="0"/>
                </a:moveTo>
                <a:lnTo>
                  <a:pt x="2619375" y="0"/>
                </a:lnTo>
                <a:lnTo>
                  <a:pt x="26193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66775" y="3209925"/>
            <a:ext cx="2181225" cy="2152650"/>
          </a:xfrm>
          <a:custGeom>
            <a:avLst/>
            <a:gdLst/>
            <a:ahLst/>
            <a:cxnLst/>
            <a:rect l="l" t="t" r="r" b="b"/>
            <a:pathLst>
              <a:path w="2181225" h="2152650">
                <a:moveTo>
                  <a:pt x="0" y="0"/>
                </a:moveTo>
                <a:lnTo>
                  <a:pt x="2181225" y="0"/>
                </a:lnTo>
                <a:lnTo>
                  <a:pt x="218122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389888" y="3974067"/>
            <a:ext cx="987552" cy="940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16"/>
              </a:lnSpc>
            </a:pPr>
            <a:r>
              <a:rPr lang="en-US" sz="7016" b="1" spc="-14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id="7" name="Freeform 7"/>
          <p:cNvSpPr/>
          <p:nvPr/>
        </p:nvSpPr>
        <p:spPr>
          <a:xfrm>
            <a:off x="3048000" y="3209925"/>
            <a:ext cx="8496300" cy="2152650"/>
          </a:xfrm>
          <a:custGeom>
            <a:avLst/>
            <a:gdLst/>
            <a:ahLst/>
            <a:cxnLst/>
            <a:rect l="l" t="t" r="r" b="b"/>
            <a:pathLst>
              <a:path w="8496300" h="2152650">
                <a:moveTo>
                  <a:pt x="0" y="0"/>
                </a:moveTo>
                <a:lnTo>
                  <a:pt x="8496300" y="0"/>
                </a:lnTo>
                <a:lnTo>
                  <a:pt x="849630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566160" y="3766096"/>
            <a:ext cx="3474720" cy="494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045" b="1" spc="-60">
                <a:solidFill>
                  <a:srgbClr val="132639"/>
                </a:solidFill>
                <a:latin typeface="Roboto Bold"/>
                <a:ea typeface="Roboto Bold"/>
                <a:cs typeface="Roboto Bold"/>
                <a:sym typeface="Roboto Bold"/>
              </a:rPr>
              <a:t>Standard Execution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66160" y="4300795"/>
            <a:ext cx="3767328" cy="433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620" b="1" spc="-52">
                <a:solidFill>
                  <a:srgbClr val="E66410"/>
                </a:solidFill>
                <a:latin typeface="Roboto Bold"/>
                <a:ea typeface="Roboto Bold"/>
                <a:cs typeface="Roboto Bold"/>
                <a:sym typeface="Roboto Bold"/>
              </a:rPr>
              <a:t>Command: .pstree_clone</a:t>
            </a:r>
          </a:p>
        </p:txBody>
      </p:sp>
      <p:sp>
        <p:nvSpPr>
          <p:cNvPr id="10" name="Freeform 10"/>
          <p:cNvSpPr/>
          <p:nvPr/>
        </p:nvSpPr>
        <p:spPr>
          <a:xfrm>
            <a:off x="10668000" y="3209925"/>
            <a:ext cx="6753225" cy="2152650"/>
          </a:xfrm>
          <a:custGeom>
            <a:avLst/>
            <a:gdLst/>
            <a:ahLst/>
            <a:cxnLst/>
            <a:rect l="l" t="t" r="r" b="b"/>
            <a:pathLst>
              <a:path w="6753225" h="2152650">
                <a:moveTo>
                  <a:pt x="0" y="0"/>
                </a:moveTo>
                <a:lnTo>
                  <a:pt x="6753225" y="0"/>
                </a:lnTo>
                <a:lnTo>
                  <a:pt x="675322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1960352" y="3538118"/>
            <a:ext cx="4261104" cy="1426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7"/>
              </a:lnSpc>
            </a:pPr>
            <a:r>
              <a:rPr lang="en-US" sz="2726" b="1" spc="-5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Displays running processes hierarchically with proper indentation.</a:t>
            </a:r>
          </a:p>
        </p:txBody>
      </p:sp>
      <p:sp>
        <p:nvSpPr>
          <p:cNvPr id="12" name="Freeform 12"/>
          <p:cNvSpPr/>
          <p:nvPr/>
        </p:nvSpPr>
        <p:spPr>
          <a:xfrm>
            <a:off x="866775" y="5353050"/>
            <a:ext cx="2181225" cy="2152650"/>
          </a:xfrm>
          <a:custGeom>
            <a:avLst/>
            <a:gdLst/>
            <a:ahLst/>
            <a:cxnLst/>
            <a:rect l="l" t="t" r="r" b="b"/>
            <a:pathLst>
              <a:path w="2181225" h="2152650">
                <a:moveTo>
                  <a:pt x="0" y="0"/>
                </a:moveTo>
                <a:lnTo>
                  <a:pt x="2181225" y="0"/>
                </a:lnTo>
                <a:lnTo>
                  <a:pt x="218122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389888" y="6052041"/>
            <a:ext cx="987552" cy="940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16"/>
              </a:lnSpc>
            </a:pPr>
            <a:r>
              <a:rPr lang="en-US" sz="7016" b="1" spc="-14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id="14" name="Freeform 14"/>
          <p:cNvSpPr/>
          <p:nvPr/>
        </p:nvSpPr>
        <p:spPr>
          <a:xfrm>
            <a:off x="3048000" y="5353050"/>
            <a:ext cx="8496300" cy="2152650"/>
          </a:xfrm>
          <a:custGeom>
            <a:avLst/>
            <a:gdLst/>
            <a:ahLst/>
            <a:cxnLst/>
            <a:rect l="l" t="t" r="r" b="b"/>
            <a:pathLst>
              <a:path w="8496300" h="2152650">
                <a:moveTo>
                  <a:pt x="0" y="0"/>
                </a:moveTo>
                <a:lnTo>
                  <a:pt x="8496300" y="0"/>
                </a:lnTo>
                <a:lnTo>
                  <a:pt x="849630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566160" y="5658904"/>
            <a:ext cx="3017520" cy="494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045" b="1" spc="-60">
                <a:solidFill>
                  <a:srgbClr val="132639"/>
                </a:solidFill>
                <a:latin typeface="Roboto Bold"/>
                <a:ea typeface="Roboto Bold"/>
                <a:cs typeface="Roboto Bold"/>
                <a:sym typeface="Roboto Bold"/>
              </a:rPr>
              <a:t>Background Task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66160" y="6179764"/>
            <a:ext cx="3877056" cy="904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2620" b="1" spc="-52">
                <a:solidFill>
                  <a:srgbClr val="E66410"/>
                </a:solidFill>
                <a:latin typeface="Roboto Bold"/>
                <a:ea typeface="Roboto Bold"/>
                <a:cs typeface="Roboto Bold"/>
                <a:sym typeface="Roboto Bold"/>
              </a:rPr>
              <a:t>Command: sleep 100 &amp; followed by .pstree_clone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668000" y="5353050"/>
            <a:ext cx="6753225" cy="2152650"/>
          </a:xfrm>
          <a:custGeom>
            <a:avLst/>
            <a:gdLst/>
            <a:ahLst/>
            <a:cxnLst/>
            <a:rect l="l" t="t" r="r" b="b"/>
            <a:pathLst>
              <a:path w="6753225" h="2152650">
                <a:moveTo>
                  <a:pt x="0" y="0"/>
                </a:moveTo>
                <a:lnTo>
                  <a:pt x="6753225" y="0"/>
                </a:lnTo>
                <a:lnTo>
                  <a:pt x="675322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1960352" y="5636666"/>
            <a:ext cx="3474720" cy="1426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7"/>
              </a:lnSpc>
            </a:pPr>
            <a:r>
              <a:rPr lang="en-US" sz="2726" b="1" spc="-5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sleep process appears as child of the shell process.</a:t>
            </a:r>
          </a:p>
        </p:txBody>
      </p:sp>
      <p:sp>
        <p:nvSpPr>
          <p:cNvPr id="19" name="Freeform 19"/>
          <p:cNvSpPr/>
          <p:nvPr/>
        </p:nvSpPr>
        <p:spPr>
          <a:xfrm>
            <a:off x="866775" y="7496175"/>
            <a:ext cx="2181225" cy="2152650"/>
          </a:xfrm>
          <a:custGeom>
            <a:avLst/>
            <a:gdLst/>
            <a:ahLst/>
            <a:cxnLst/>
            <a:rect l="l" t="t" r="r" b="b"/>
            <a:pathLst>
              <a:path w="2181225" h="2152650">
                <a:moveTo>
                  <a:pt x="0" y="0"/>
                </a:moveTo>
                <a:lnTo>
                  <a:pt x="2181225" y="0"/>
                </a:lnTo>
                <a:lnTo>
                  <a:pt x="218122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389888" y="8130015"/>
            <a:ext cx="987552" cy="940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16"/>
              </a:lnSpc>
            </a:pPr>
            <a:r>
              <a:rPr lang="en-US" sz="7016" b="1" spc="-14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id="21" name="Freeform 21"/>
          <p:cNvSpPr/>
          <p:nvPr/>
        </p:nvSpPr>
        <p:spPr>
          <a:xfrm>
            <a:off x="3048000" y="7496175"/>
            <a:ext cx="8496300" cy="2152650"/>
          </a:xfrm>
          <a:custGeom>
            <a:avLst/>
            <a:gdLst/>
            <a:ahLst/>
            <a:cxnLst/>
            <a:rect l="l" t="t" r="r" b="b"/>
            <a:pathLst>
              <a:path w="8496300" h="2152650">
                <a:moveTo>
                  <a:pt x="0" y="0"/>
                </a:moveTo>
                <a:lnTo>
                  <a:pt x="8496300" y="0"/>
                </a:lnTo>
                <a:lnTo>
                  <a:pt x="849630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3566160" y="7767739"/>
            <a:ext cx="3511296" cy="494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045" b="1" spc="-60">
                <a:solidFill>
                  <a:srgbClr val="132639"/>
                </a:solidFill>
                <a:latin typeface="Roboto Bold"/>
                <a:ea typeface="Roboto Bold"/>
                <a:cs typeface="Roboto Bold"/>
                <a:sym typeface="Roboto Bold"/>
              </a:rPr>
              <a:t>Unreadable Process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566160" y="8288599"/>
            <a:ext cx="4133088" cy="904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8"/>
              </a:lnSpc>
            </a:pPr>
            <a:r>
              <a:rPr lang="en-US" sz="2620" b="1" spc="-52">
                <a:solidFill>
                  <a:srgbClr val="E66410"/>
                </a:solidFill>
                <a:latin typeface="Roboto Bold"/>
                <a:ea typeface="Roboto Bold"/>
                <a:cs typeface="Roboto Bold"/>
                <a:sym typeface="Roboto Bold"/>
              </a:rPr>
              <a:t>Condition: .proc/&lt;PID&gt;/stat inaccessible</a:t>
            </a:r>
          </a:p>
        </p:txBody>
      </p:sp>
      <p:sp>
        <p:nvSpPr>
          <p:cNvPr id="24" name="Freeform 24"/>
          <p:cNvSpPr/>
          <p:nvPr/>
        </p:nvSpPr>
        <p:spPr>
          <a:xfrm>
            <a:off x="10668000" y="7496175"/>
            <a:ext cx="6753225" cy="2152650"/>
          </a:xfrm>
          <a:custGeom>
            <a:avLst/>
            <a:gdLst/>
            <a:ahLst/>
            <a:cxnLst/>
            <a:rect l="l" t="t" r="r" b="b"/>
            <a:pathLst>
              <a:path w="6753225" h="2152650">
                <a:moveTo>
                  <a:pt x="0" y="0"/>
                </a:moveTo>
                <a:lnTo>
                  <a:pt x="6753225" y="0"/>
                </a:lnTo>
                <a:lnTo>
                  <a:pt x="6753225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1960352" y="7724927"/>
            <a:ext cx="4261104" cy="1426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7"/>
              </a:lnSpc>
            </a:pPr>
            <a:r>
              <a:rPr lang="en-US" sz="2726" b="1" spc="-5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Program skips inaccessible processes and continues without crashing.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375</Words>
  <Application>Microsoft Office PowerPoint</Application>
  <PresentationFormat>Custom</PresentationFormat>
  <Paragraphs>74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Roboto</vt:lpstr>
      <vt:lpstr>Roboto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Vamaraju Sai Sahith</cp:lastModifiedBy>
  <cp:revision>3</cp:revision>
  <dcterms:created xsi:type="dcterms:W3CDTF">2006-08-16T00:00:00Z</dcterms:created>
  <dcterms:modified xsi:type="dcterms:W3CDTF">2026-08-17T04:48:54Z</dcterms:modified>
  <dc:identifier>DAHShAXT3qI</dc:identifier>
</cp:coreProperties>
</file>